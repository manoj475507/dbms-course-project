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Syne"/>
      <p:regular r:id="rId201314"/>
    </p:embeddedFont>
    <p:embeddedFont>
      <p:font typeface="Syne SemiBold"/>
      <p:regular r:id="rId201315"/>
    </p:embeddedFont>
    <p:embeddedFont>
      <p:font typeface="Syne Bold"/>
      <p:regular r:id="rId201316"/>
    </p:embeddedFont>
    <p:embeddedFont>
      <p:font typeface="Syne Extra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3-2.jpeg"/><Relationship Id="rId3" Type="http://schemas.openxmlformats.org/officeDocument/2006/relationships/image" Target="../media/image-1002-2.png"/><Relationship Id="rId5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4-2.jpeg"/><Relationship Id="rId3" Type="http://schemas.openxmlformats.org/officeDocument/2006/relationships/image" Target="../media/image-1002-2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025">
              <a:alpha val="8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025">
              <a:alpha val="8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3.png"/><Relationship Id="rId6" Type="http://schemas.openxmlformats.org/officeDocument/2006/relationships/image" Target="../media/image-6-4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7.png"/><Relationship Id="rId10" Type="http://schemas.openxmlformats.org/officeDocument/2006/relationships/image" Target="../media/image-8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508224"/>
            <a:ext cx="6296860" cy="2953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Cold Storage Commodity and Chamber Management System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74493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Academic DBMS project: a clean, efficient system for tracking customers, commodities, chambers, allocations, logs, billing, and compliance.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079"/>
            <a:ext cx="10868745" cy="42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Problem: Manual Processes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114822"/>
            <a:ext cx="4018556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Record Keeping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6139" y="1441549"/>
            <a:ext cx="3013893" cy="40185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5572323"/>
            <a:ext cx="4018556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Manual or basic records cause fragmentation and loss.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662" y="2297113"/>
            <a:ext cx="2282371" cy="228242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25780" y="3266678"/>
            <a:ext cx="343288" cy="343297"/>
          </a:xfrm>
          <a:prstGeom prst="ellipse">
            <a:avLst/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920135" y="3341787"/>
            <a:ext cx="154480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443006" y="1993106"/>
            <a:ext cx="4087214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Time &amp; Errors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443006" y="2267446"/>
            <a:ext cx="4087214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Slow retrieval, time loss, and error-prone entry hurt operations.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662" y="2297113"/>
            <a:ext cx="2282371" cy="228242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473365" y="2315369"/>
            <a:ext cx="343288" cy="343297"/>
          </a:xfrm>
          <a:prstGeom prst="ellipse">
            <a:avLst/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567720" y="2390477"/>
            <a:ext cx="154480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7443006" y="4419600"/>
            <a:ext cx="4087214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Operational Impact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443006" y="4693940"/>
            <a:ext cx="4087214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Inefficient allocations and billing delays reduce revenue accuracy.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662" y="2297113"/>
            <a:ext cx="2282371" cy="228242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473365" y="4217888"/>
            <a:ext cx="343288" cy="343297"/>
          </a:xfrm>
          <a:prstGeom prst="ellipse">
            <a:avLst/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567720" y="4292997"/>
            <a:ext cx="154480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61475" y="5874147"/>
            <a:ext cx="10868745" cy="447774"/>
          </a:xfrm>
          <a:prstGeom prst="roundRect">
            <a:avLst>
              <a:gd name="adj" fmla="val 12882"/>
            </a:avLst>
          </a:prstGeom>
          <a:solidFill>
            <a:srgbClr val="547808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90" y="6015038"/>
            <a:ext cx="171644" cy="13731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07750" y="6008191"/>
            <a:ext cx="10894740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This system is framed as the solution to these core issues.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541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System Scope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398341"/>
            <a:ext cx="543030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Customers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Commodities &amp; Lots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Chambers &amp; Locations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559287" y="3398341"/>
            <a:ext cx="497718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Allocations, Receipts, Releases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Temperature &amp; Inspection Logs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Rates, Invoices, Payments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2169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Objectives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1659235"/>
            <a:ext cx="1358568" cy="1021854"/>
          </a:xfrm>
          <a:prstGeom prst="roundRect">
            <a:avLst>
              <a:gd name="adj" fmla="val 7381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4506" y="2043906"/>
            <a:ext cx="252505" cy="2525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9525" y="1838722"/>
            <a:ext cx="915121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Digitize Records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2199525" y="2221508"/>
            <a:ext cx="915121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Centralize entities and history for reliable access.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109735" y="2668389"/>
            <a:ext cx="9330794" cy="12700"/>
          </a:xfrm>
          <a:prstGeom prst="roundRect">
            <a:avLst>
              <a:gd name="adj" fmla="val 49999"/>
            </a:avLst>
          </a:prstGeom>
          <a:solidFill>
            <a:srgbClr val="6D9121"/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2770783"/>
            <a:ext cx="2717137" cy="1021854"/>
          </a:xfrm>
          <a:prstGeom prst="roundRect">
            <a:avLst>
              <a:gd name="adj" fmla="val 7381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93741" y="3155454"/>
            <a:ext cx="252505" cy="2525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58094" y="2950270"/>
            <a:ext cx="779264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Reduce Errors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3558094" y="3333055"/>
            <a:ext cx="779264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Structured CRUD and validations to cut entry mistakes.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468303" y="3779937"/>
            <a:ext cx="7972226" cy="12700"/>
          </a:xfrm>
          <a:prstGeom prst="roundRect">
            <a:avLst>
              <a:gd name="adj" fmla="val 49999"/>
            </a:avLst>
          </a:prstGeom>
          <a:solidFill>
            <a:srgbClr val="6D9121"/>
          </a:solidFill>
          <a:ln/>
        </p:spPr>
      </p:sp>
      <p:sp>
        <p:nvSpPr>
          <p:cNvPr id="13" name="Shape 9"/>
          <p:cNvSpPr/>
          <p:nvPr/>
        </p:nvSpPr>
        <p:spPr>
          <a:xfrm>
            <a:off x="661475" y="3882330"/>
            <a:ext cx="4075705" cy="1021854"/>
          </a:xfrm>
          <a:prstGeom prst="roundRect">
            <a:avLst>
              <a:gd name="adj" fmla="val 7381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3075" y="4267002"/>
            <a:ext cx="252505" cy="2525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16662" y="4061817"/>
            <a:ext cx="643407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Optimize Space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4916662" y="4444603"/>
            <a:ext cx="643407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Better allocation logic to use chamber capacity efficiently.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826871" y="4891484"/>
            <a:ext cx="6613657" cy="12700"/>
          </a:xfrm>
          <a:prstGeom prst="roundRect">
            <a:avLst>
              <a:gd name="adj" fmla="val 49999"/>
            </a:avLst>
          </a:prstGeom>
          <a:solidFill>
            <a:srgbClr val="6D9121"/>
          </a:solidFill>
          <a:ln/>
        </p:spPr>
      </p:sp>
      <p:sp>
        <p:nvSpPr>
          <p:cNvPr id="18" name="Shape 13"/>
          <p:cNvSpPr/>
          <p:nvPr/>
        </p:nvSpPr>
        <p:spPr>
          <a:xfrm>
            <a:off x="661475" y="4993878"/>
            <a:ext cx="5434373" cy="1021854"/>
          </a:xfrm>
          <a:prstGeom prst="roundRect">
            <a:avLst>
              <a:gd name="adj" fmla="val 7381"/>
            </a:avLst>
          </a:prstGeom>
          <a:solidFill>
            <a:srgbClr val="547808"/>
          </a:solidFill>
          <a:ln w="6350">
            <a:solidFill>
              <a:srgbClr val="6D9121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52408" y="5378549"/>
            <a:ext cx="252505" cy="2525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75330" y="5173365"/>
            <a:ext cx="507540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Faster Retrieval</a:t>
            </a:r>
            <a:endParaRPr lang="en-US" sz="1750" dirty="0"/>
          </a:p>
        </p:txBody>
      </p:sp>
      <p:sp>
        <p:nvSpPr>
          <p:cNvPr id="21" name="Text 15"/>
          <p:cNvSpPr/>
          <p:nvPr/>
        </p:nvSpPr>
        <p:spPr>
          <a:xfrm>
            <a:off x="6275330" y="5556151"/>
            <a:ext cx="507540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Indexed search and clear location tracking for quick access.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74018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Users &amp; Functional Requirements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118445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Primary Users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3602732"/>
            <a:ext cx="291785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Admin (system mgmt), Staff (operations), Accounting, Inspectors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618719" y="3118445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Key Functions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618719" y="3602732"/>
            <a:ext cx="2917851" cy="2315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CRUD for Customers, Commodities, Chambers, Lots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Allocate / Deallocate space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Record Receipts, Releases, Inspections, Temp Logs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Generate Rates, Invoices, Payments, Reports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86" y="0"/>
            <a:ext cx="7619809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152" y="942479"/>
            <a:ext cx="7459178" cy="497294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842367"/>
            <a:ext cx="3248936" cy="150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Conceptual Design Summary</a:t>
            </a:r>
            <a:endParaRPr lang="en-US" sz="315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53295"/>
            <a:ext cx="3248936" cy="114230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28456" y="2720280"/>
            <a:ext cx="291497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Entities</a:t>
            </a:r>
            <a:endParaRPr lang="en-US" sz="1550" dirty="0"/>
          </a:p>
        </p:txBody>
      </p:sp>
      <p:sp>
        <p:nvSpPr>
          <p:cNvPr id="7" name="Text 2"/>
          <p:cNvSpPr/>
          <p:nvPr/>
        </p:nvSpPr>
        <p:spPr>
          <a:xfrm>
            <a:off x="828456" y="3053159"/>
            <a:ext cx="291497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Customer, Commodity, Lot, Chamber, Location, Allocation</a:t>
            </a:r>
            <a:endParaRPr lang="en-US" sz="12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832126"/>
            <a:ext cx="3248936" cy="114230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28456" y="3999111"/>
            <a:ext cx="291497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Transactions</a:t>
            </a:r>
            <a:endParaRPr lang="en-US" sz="1550" dirty="0"/>
          </a:p>
        </p:txBody>
      </p:sp>
      <p:sp>
        <p:nvSpPr>
          <p:cNvPr id="10" name="Text 4"/>
          <p:cNvSpPr/>
          <p:nvPr/>
        </p:nvSpPr>
        <p:spPr>
          <a:xfrm>
            <a:off x="828456" y="4331990"/>
            <a:ext cx="291497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Receipt, Release, Inspection, Temperature Log</a:t>
            </a:r>
            <a:endParaRPr lang="en-US" sz="12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5110956"/>
            <a:ext cx="3248936" cy="90457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28456" y="5277941"/>
            <a:ext cx="291497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Financial</a:t>
            </a:r>
            <a:endParaRPr lang="en-US" sz="1550" dirty="0"/>
          </a:p>
        </p:txBody>
      </p:sp>
      <p:sp>
        <p:nvSpPr>
          <p:cNvPr id="13" name="Text 6"/>
          <p:cNvSpPr/>
          <p:nvPr/>
        </p:nvSpPr>
        <p:spPr>
          <a:xfrm>
            <a:off x="828456" y="5610820"/>
            <a:ext cx="291497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Rate, Invoice, Payment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173"/>
            <a:ext cx="10868745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ER Diagram (Conceptual)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0463" y="1208881"/>
            <a:ext cx="6510770" cy="47892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80048" y="4060021"/>
            <a:ext cx="1956360" cy="24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Customer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632027" y="2554673"/>
            <a:ext cx="1617258" cy="733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Lot &amp; Commodity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527523" y="3798080"/>
            <a:ext cx="1460749" cy="733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Chamber &amp; Location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771146" y="4763785"/>
            <a:ext cx="1373800" cy="489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Operations Logs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110414" y="1732981"/>
            <a:ext cx="1199901" cy="733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Billing &amp; Payments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1475" y="6125865"/>
            <a:ext cx="11478330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Diagram shows entities and cardinalities (crow's foot) for operational and billing flows.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782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Initial Relational Schema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536502"/>
            <a:ext cx="3496877" cy="22791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6410" y="167828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75881" y="2292449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Customers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2701131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PK: customer_id · attributes: name, contact, address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1536502"/>
            <a:ext cx="3496877" cy="22791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2294" y="167828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561766" y="2292449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Commodities &amp; Lots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561766" y="2996406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PK: commodity_id, lot_id · FK: customer_id, commodity_id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1536502"/>
            <a:ext cx="3496877" cy="227915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68179" y="167828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247650" y="2292449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Chambers &amp; Locations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247650" y="2996406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PK: chamber_id, location_id · attributes: capacity, temp_range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004667"/>
            <a:ext cx="5339820" cy="228550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217931" y="414645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875881" y="4760615"/>
            <a:ext cx="491100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Allocations &amp; Transactions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875881" y="5464572"/>
            <a:ext cx="4911007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PKs: allocation_id, receipt_id, release_id · FKs linking lots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↔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locations; logs reference lot_id</a:t>
            </a:r>
            <a:endParaRPr lang="en-US" sz="14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90301" y="4004667"/>
            <a:ext cx="5339820" cy="228550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746757" y="414645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5</a:t>
            </a:r>
            <a:endParaRPr lang="en-US" sz="1750" dirty="0"/>
          </a:p>
        </p:txBody>
      </p:sp>
      <p:sp>
        <p:nvSpPr>
          <p:cNvPr id="21" name="Text 14"/>
          <p:cNvSpPr/>
          <p:nvPr/>
        </p:nvSpPr>
        <p:spPr>
          <a:xfrm>
            <a:off x="6404708" y="4760615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Billing</a:t>
            </a:r>
            <a:endParaRPr lang="en-US" sz="1850" dirty="0"/>
          </a:p>
        </p:txBody>
      </p:sp>
      <p:sp>
        <p:nvSpPr>
          <p:cNvPr id="22" name="Text 15"/>
          <p:cNvSpPr/>
          <p:nvPr/>
        </p:nvSpPr>
        <p:spPr>
          <a:xfrm>
            <a:off x="6404708" y="5169297"/>
            <a:ext cx="4911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Tables: rate (rate_id PK), invoice (invoice_id PK, FK customer_id), payment (payment_id PK, FK invoice_id)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263" y="1237456"/>
            <a:ext cx="4382978" cy="43830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553938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Schema Details (PK / FK highlights)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661475" y="2779415"/>
            <a:ext cx="352743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Primary Keys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661475" y="3251895"/>
            <a:ext cx="2917851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customer_id, commodity_id, lot_id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chamber_id, location_id, allocation_id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receipt_id, release_id, inspection_id, temp_log_id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4046833" y="2779415"/>
            <a:ext cx="352743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Foreign Keys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046833" y="3251895"/>
            <a:ext cx="2917851" cy="2986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lot.customer_id → customers.customer_id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lot.commodity_id → commodities.commodity_id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allocation.lot_id → lots.lot_id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allocation.location_id → locations.location_id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invoice.customer_id → customers.customer_id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2026-09-04T06:47:18Z</dcterms:created>
  <dcterms:modified xsi:type="dcterms:W3CDTF">2026-09-04T06:47:18Z</dcterms:modified>
</cp:coreProperties>
</file>